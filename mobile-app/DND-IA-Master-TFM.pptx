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Presentarme y enunciar la idea en una frase: una IA que hace de máster de D&amp;D, con las tiradas reales ejecutadas por el backend, no inventadas por 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no era "hacer un juego", era usar un dominio con suficiente profundidad (reglas de D&amp;D) para que Clean Architecture, TDD y MCP tuvieran sentido real y no fueran un CRUD disfrazado.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conviene remarcar la separación de responsabilidades: ui-web es de solo lectura, mobile-app es donde se juega de verdad, y la API es la fuente de verdad de las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 momento para mencionar que son 4 repos GitHub separados, cada uno desplegado de forma independiente (Render, Vercel, EAS).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rápido: NestJS + Mongo en el backend, DeepSeek vía SDK de OpenAI (endpoint compatible) en dm-engine, React en ambos frontends compartiendo el mismo patrón de TanStack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de quitar la iniciativa fija fue una revisión tras evaluar partidas de mesa reales: en la práctica nadie espera turno estricto en una ronda de jugadores.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tiempo en la exposición oral, aquí es donde encaja mostrar la demo en vivo o el vídeo de la app móvil jugando un turno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explícitamente que REST y MCP llaman al mismo caso de uso — no hay lógica de negocio duplicada entre los dos adaptadores.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Limitación honesta a mencionar si preguntan: el bucle detecta huecos verificables por código, pero no puede comprobar que la narrativa en texto libre coincida siempre con lo que las tools registraron — mitigado por el system prompt, no por código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puede ir bien mostrar en directo el login en ui-web o el flujo de partida en el móvil, si la exposición lo permite.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repos son públicos e independientes. Todos incluyen DOCUMENTACION-TFM.md con el detalle completo de instalación, estructura y credenciales.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hueco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vibrant-tesla/mnt/outputs/tfm-slides/fondo_aventura.jpg">    </p:cNvPr>
          <p:cNvPicPr>
            <a:picLocks noChangeAspect="1"/>
          </p:cNvPicPr>
          <p:nvPr/>
        </p:nvPicPr>
        <p:blipFill>
          <a:blip r:embed="rId1">
            <a:alphaModFix amt="3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030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545836" y="914400"/>
            <a:ext cx="1097280" cy="109728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1" descr="/sessions/charming-vibrant-tesla/mnt/outputs/tfm-slides/icons/gold/wiz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537" y="1035101"/>
            <a:ext cx="855878" cy="8558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22860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D&amp;D CON IA MASTER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1097280" y="324612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Dungeon Master artificial que narra, arbitra y nunca hace trampas con los dados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97280" y="512064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Máster — Máster de Desarrollo con IA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 ·  checacs@gmail.com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Demostrar, con un proyecto real, los tres pilares del máster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70504" cy="3749040"/>
          </a:xfrm>
          <a:prstGeom prst="roundRect">
            <a:avLst>
              <a:gd name="adj" fmla="val 3355"/>
            </a:avLst>
          </a:prstGeom>
          <a:solidFill>
            <a:srgbClr val="2A1B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63852" y="2194560"/>
            <a:ext cx="822960" cy="8229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6" name="Image 0" descr="/sessions/charming-vibrant-tesla/mnt/outputs/tfm-slides/icons/gold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378" y="2285086"/>
            <a:ext cx="641909" cy="641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 + TDD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6304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Dominio, casos de uso y puertos separados de infraestructura. Cada caso de uso nace de un test que falla primero.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59224" y="1828800"/>
            <a:ext cx="3270504" cy="3749040"/>
          </a:xfrm>
          <a:prstGeom prst="roundRect">
            <a:avLst>
              <a:gd name="adj" fmla="val 3355"/>
            </a:avLst>
          </a:prstGeom>
          <a:solidFill>
            <a:srgbClr val="2A1B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2996" y="2194560"/>
            <a:ext cx="822960" cy="8229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1" name="Image 1" descr="/sessions/charming-vibrant-tesla/mnt/outputs/tfm-slides/icons/gold/pl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522" y="2285086"/>
            <a:ext cx="641909" cy="6419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7824" y="320040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MCP real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79264" y="3977640"/>
            <a:ext cx="26304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ejemplo de juguete: 16+ tools que envuelven los mismos casos de uso que la API REST, verificables con el Inspector oficial.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78368" y="1828800"/>
            <a:ext cx="3270504" cy="3749040"/>
          </a:xfrm>
          <a:prstGeom prst="roundRect">
            <a:avLst>
              <a:gd name="adj" fmla="val 3355"/>
            </a:avLst>
          </a:prstGeom>
          <a:solidFill>
            <a:srgbClr val="2A1B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02140" y="2194560"/>
            <a:ext cx="822960" cy="8229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6" name="Image 2" descr="/sessions/charming-vibrant-tesla/mnt/outputs/tfm-slides/icons/gold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666" y="2285086"/>
            <a:ext cx="641909" cy="6419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6968" y="320040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LLM como agente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98408" y="3977640"/>
            <a:ext cx="26304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decide qué tools llamar (tirar dados, mover enemigos, consultar catálogos) dentro de un bucle con reintentos y límite de iteraciones.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GENERAL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superficies de cliente, un mismo núcleo de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48612" y="1874520"/>
            <a:ext cx="914400" cy="91440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0" descr="/sessions/charming-vibrant-tesla/mnt/outputs/tfm-slides/icons/gold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196" y="19751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7180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Web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474720"/>
            <a:ext cx="30571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partida y pantalla de juego de solo lectura: narración, mapa, roster y combate. No se juega desde aquí.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925824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637276" y="1874520"/>
            <a:ext cx="914400" cy="91440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0" name="Image 1" descr="/sessions/charming-vibrant-tesla/mnt/outputs/tfm-slides/icons/gold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1975104"/>
            <a:ext cx="713232" cy="713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28744" y="297180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65904" y="3474720"/>
            <a:ext cx="30571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superficie desde la que se actúa: ficha de personaje, "Mi turno", "Tirar Dados" y la acción escrita.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714488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9425940" y="1874520"/>
            <a:ext cx="914400" cy="91440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5" name="Image 2" descr="/sessions/charming-vibrant-tesla/mnt/outputs/tfm-slides/icons/gold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524" y="197510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7408" y="297180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+ MCP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354568" y="3474720"/>
            <a:ext cx="30571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reglas y persistencia (MongoDB). Expone tools MCP que el motor de IA usa para consultar y mutar el estado real.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22960" y="4937760"/>
            <a:ext cx="10543032" cy="1234440"/>
          </a:xfrm>
          <a:prstGeom prst="roundRect">
            <a:avLst>
              <a:gd name="adj" fmla="val 7407"/>
            </a:avLst>
          </a:prstGeom>
          <a:solidFill>
            <a:srgbClr val="2A1B4A"/>
          </a:solidFill>
          <a:ln/>
        </p:spPr>
      </p:sp>
      <p:sp>
        <p:nvSpPr>
          <p:cNvPr id="19" name="Shape 14"/>
          <p:cNvSpPr/>
          <p:nvPr/>
        </p:nvSpPr>
        <p:spPr>
          <a:xfrm>
            <a:off x="1051560" y="5193792"/>
            <a:ext cx="685800" cy="68580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0" name="Image 3" descr="/sessions/charming-vibrant-tesla/mnt/outputs/tfm-slides/icons/gold/d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998" y="5269230"/>
            <a:ext cx="534924" cy="5349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65960" y="5074920"/>
            <a:ext cx="9079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tirada de dados la ejecuta el backend con RNG real. El DM-IA decide QUÉ tirar y su dificultad, nunca EL RESULTADO.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repositorios independientes, un flujo de turno claro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6974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6" name="Image 0" descr="/sessions/charming-vibrant-tesla/mnt/outputs/tfm-slides/icons/gold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347" y="277794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mobile-app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escribe su acción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30652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483864" y="24688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1104" y="26974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2" name="Image 1" descr="/sessions/charming-vibrant-tesla/mnt/outputs/tfm-slides/icons/gold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571" y="2777947"/>
            <a:ext cx="570586" cy="5705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API_REST TFM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21024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Persiste, valida y expone MCP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65876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419088" y="24688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96328" y="26974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8" name="Image 2" descr="/sessions/charming-vibrant-tesla/mnt/outputs/tfm-slides/icons/gold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795" y="2777947"/>
            <a:ext cx="570586" cy="5705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0528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dm-engine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56248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a DeepSeek + tools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1100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354312" y="24688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31552" y="26974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4" name="Image 3" descr="/sessions/charming-vibrant-tesla/mnt/outputs/tfm-slides/icons/gold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019" y="2777947"/>
            <a:ext cx="570586" cy="5705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45752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ui-web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491472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el estado en vivo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22960" y="46634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mobile-app → API (persiste el turno) → dm-engine (llama a DeepSeek, que a su vez llama a las tools MCP de la API) → la narrativa y los eventos vuelven a la API → ui-web los refleja vía sondeo (polling).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452878" cy="46634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4" name="Shape 2"/>
          <p:cNvSpPr/>
          <p:nvPr/>
        </p:nvSpPr>
        <p:spPr>
          <a:xfrm>
            <a:off x="1500759" y="164592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0" descr="/sessions/charming-vibrant-tesla/mnt/outputs/tfm-slides/icons/gold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226" y="172638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API_REST TFM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3063240"/>
            <a:ext cx="199567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 + TypeScript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(Mongoose)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(Passport)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@modelcontextprotocol/sdk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Polly (voz)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(TDD)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58718" y="1371600"/>
            <a:ext cx="2452878" cy="46634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9" name="Shape 6"/>
          <p:cNvSpPr/>
          <p:nvPr/>
        </p:nvSpPr>
        <p:spPr>
          <a:xfrm>
            <a:off x="4319397" y="164592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0" name="Image 1" descr="/sessions/charming-vibrant-tesla/mnt/outputs/tfm-slides/icons/gold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864" y="172638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0158" y="25146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dm-engine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87318" y="3063240"/>
            <a:ext cx="199567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TypeScript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mínimo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MCP propio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→ DeepSeek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77356" y="1371600"/>
            <a:ext cx="2452878" cy="46634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8035" y="164592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5" name="Image 2" descr="/sessions/charming-vibrant-tesla/mnt/outputs/tfm-slides/icons/gold/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502" y="172638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68796" y="25146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ui-web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05956" y="3063240"/>
            <a:ext cx="199567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95994" y="1371600"/>
            <a:ext cx="2452878" cy="46634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19" name="Shape 14"/>
          <p:cNvSpPr/>
          <p:nvPr/>
        </p:nvSpPr>
        <p:spPr>
          <a:xfrm>
            <a:off x="9956673" y="164592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0" name="Image 3" descr="/sessions/charming-vibrant-tesla/mnt/outputs/tfm-slides/icons/gold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140" y="1726387"/>
            <a:ext cx="570586" cy="5705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7434" y="25146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mobile-app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324594" y="3063240"/>
            <a:ext cx="199567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DOMINIO: D&amp;D 5E SIMPLIFICADO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profundidad de reglas para que el diseño tenga sentido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52878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24528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progresión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8718" y="1737360"/>
            <a:ext cx="2452878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/>
        </p:spPr>
      </p:sp>
      <p:sp>
        <p:nvSpPr>
          <p:cNvPr id="8" name="Text 6"/>
          <p:cNvSpPr/>
          <p:nvPr/>
        </p:nvSpPr>
        <p:spPr>
          <a:xfrm>
            <a:off x="3458718" y="1874520"/>
            <a:ext cx="24528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95878" y="278892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jugables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1737360"/>
            <a:ext cx="2452878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/>
        </p:spPr>
      </p:sp>
      <p:sp>
        <p:nvSpPr>
          <p:cNvPr id="11" name="Text 9"/>
          <p:cNvSpPr/>
          <p:nvPr/>
        </p:nvSpPr>
        <p:spPr>
          <a:xfrm>
            <a:off x="6277356" y="1874520"/>
            <a:ext cx="24528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14516" y="278892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Monstruos importados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5994" y="1737360"/>
            <a:ext cx="2452878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/>
        </p:spPr>
      </p:sp>
      <p:sp>
        <p:nvSpPr>
          <p:cNvPr id="14" name="Text 12"/>
          <p:cNvSpPr/>
          <p:nvPr/>
        </p:nvSpPr>
        <p:spPr>
          <a:xfrm>
            <a:off x="9095994" y="1874520"/>
            <a:ext cx="24528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3154" y="278892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Hechizos importados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0908792" cy="2148840"/>
          </a:xfrm>
          <a:prstGeom prst="roundRect">
            <a:avLst>
              <a:gd name="adj" fmla="val 4255"/>
            </a:avLst>
          </a:prstGeom>
          <a:solidFill>
            <a:srgbClr val="2A1B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069080"/>
            <a:ext cx="731520" cy="731520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18" name="Image 0" descr="/sessions/charming-vibrant-tesla/mnt/outputs/tfm-slides/icons/crimson/d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4149547"/>
            <a:ext cx="570586" cy="57058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28800" y="4069080"/>
            <a:ext cx="9171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Combate por rondas, sin iniciativa fija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828800" y="4480560"/>
            <a:ext cx="91714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Ataque: 1d20 + mod vs CA objetivo. Dentro de la ronda de jugadores, cualquiera puede reclamar "Mi turno" — sin orden fijo entre ellos. Los enemigos actúan libremente al cierre de la ronda, resueltos siempre por el DM-IA.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PRINCIPALES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4" name="Image 0" descr="/sessions/charming-vibrant-tesla/mnt/outputs/tfm-slides/icons/gold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34051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188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JWT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25880" y="1508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público — cuentas creadas por un admin, que también puede resetear contraseñas.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23076" y="1280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8" name="Image 1" descr="/sessions/charming-vibrant-tesla/mnt/outputs/tfm-slides/icons/gold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426" y="1340510"/>
            <a:ext cx="427939" cy="4279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08876" y="1188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Partidas multijugador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008876" y="1508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4 jugadores, unirse por código, sala de espera antes de lanzar la partida.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2" name="Image 2" descr="/sessions/charming-vibrant-tesla/mnt/outputs/tfm-slides/icons/gold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248351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331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personaje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325880" y="2651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Atributos, HP, CA, XP, hechizos/ranuras si es conjurador, inventario, progresión por niveles.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323076" y="2423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6" name="Image 3" descr="/sessions/charming-vibrant-tesla/mnt/outputs/tfm-slides/icons/gold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26" y="248351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08876" y="2331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Narración con IA real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008876" y="2651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capitán del grupo escribe libremente y recibe respuesta narrativa de DeepSeek fuera de combate.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0" name="Image 4" descr="/sessions/charming-vibrant-tesla/mnt/outputs/tfm-slides/icons/gold/d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" y="3626510"/>
            <a:ext cx="427939" cy="42793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3474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Combate sin iniciativa fija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325880" y="3794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Candado de turno ("Mi turno") entre jugadores; tiradas de ataque/daño siempre del backend.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323076" y="3566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4" name="Image 5" descr="/sessions/charming-vibrant-tesla/mnt/outputs/tfm-slides/icons/gold/m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426" y="3626510"/>
            <a:ext cx="427939" cy="42793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08876" y="3474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táctico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7008876" y="3794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reales con zonas y marcadores de posición sincronizados por el DM-IA.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40080" y="4709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8" name="Image 6" descr="/sessions/charming-vibrant-tesla/mnt/outputs/tfm-slides/icons/gold/m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30" y="4769510"/>
            <a:ext cx="427939" cy="42793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25880" y="4617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Narración por voz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1325880" y="4937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la narración del DM con Amazon Polly, reproducible desde ui-web.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6323076" y="4709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32" name="Image 7" descr="/sessions/charming-vibrant-tesla/mnt/outputs/tfm-slides/icons/gold/pl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3426" y="4769510"/>
            <a:ext cx="427939" cy="427939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008876" y="4617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MCP verificable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7008876" y="4937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tools inspeccionables con el Inspector oficial de MCP.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CLEAN ARCHITECTURE + TDD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caso de uso se escribe sin un test que lo exija primero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691640"/>
            <a:ext cx="8257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REST y tools MCP — adaptadores finos, sin lógica de negocio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651760"/>
            <a:ext cx="10085832" cy="777240"/>
          </a:xfrm>
          <a:prstGeom prst="roundRect">
            <a:avLst>
              <a:gd name="adj" fmla="val 9412"/>
            </a:avLst>
          </a:prstGeom>
          <a:solidFill>
            <a:srgbClr val="241640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651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2651760"/>
            <a:ext cx="7434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de uso por acción de negocio, cada uno con su test unitario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3611880"/>
            <a:ext cx="926287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611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611880"/>
            <a:ext cx="6611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(Character, Game, User) y puertos (DiceRoller, UserRepository...)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4572000"/>
            <a:ext cx="8439912" cy="777240"/>
          </a:xfrm>
          <a:prstGeom prst="roundRect">
            <a:avLst>
              <a:gd name="adj" fmla="val 9412"/>
            </a:avLst>
          </a:prstGeom>
          <a:solidFill>
            <a:srgbClr val="241640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4572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4572000"/>
            <a:ext cx="5788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Mongoose, bcrypt, JWT, Amazon Polly — implementan los puertos del dominio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908792" cy="822960"/>
          </a:xfrm>
          <a:prstGeom prst="roundRect">
            <a:avLst>
              <a:gd name="adj" fmla="val 11111"/>
            </a:avLst>
          </a:prstGeom>
          <a:solidFill>
            <a:srgbClr val="2A1B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321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test: </a:t>
            </a:r>
            <a:pPr indent="0" marL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lógica con aleatoriedad (tiradas de dados) se testea con un </a:t>
            </a:r>
            <a:pPr indent="0" marL="0">
              <a:buNone/>
            </a:pPr>
            <a:r>
              <a:rPr lang="en-US" sz="1200" i="1" dirty="0">
                <a:solidFill>
                  <a:srgbClr val="F5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FakeDiceRoller</a:t>
            </a:r>
            <a:pPr indent="0" marL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valores fijos — nunca con el generador aleatorio real.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DEL DM-IA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dm-engine: el bucle de un turno, paso a paso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10085832" cy="1051560"/>
          </a:xfrm>
          <a:prstGeom prst="roundRect">
            <a:avLst>
              <a:gd name="adj" fmla="val 6957"/>
            </a:avLst>
          </a:prstGeom>
          <a:solidFill>
            <a:srgbClr val="2A1B4A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600200"/>
            <a:ext cx="9628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el system prompt con el gameId de la partida y se envía el historial junto con las tools MCP disponibles.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862072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17320" y="2816352"/>
            <a:ext cx="10085832" cy="1051560"/>
          </a:xfrm>
          <a:prstGeom prst="roundRect">
            <a:avLst>
              <a:gd name="adj" fmla="val 6957"/>
            </a:avLst>
          </a:prstGeom>
          <a:solidFill>
            <a:srgbClr val="2A1B4A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816352"/>
            <a:ext cx="9628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el modelo pida tool calls, se ejecutan contra el servidor MCP; si una tool falla, el error se pasa al modelo en vez de reventar el turno.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17320" y="4032504"/>
            <a:ext cx="10085832" cy="1051560"/>
          </a:xfrm>
          <a:prstGeom prst="roundRect">
            <a:avLst>
              <a:gd name="adj" fmla="val 6957"/>
            </a:avLst>
          </a:prstGeom>
          <a:solidFill>
            <a:srgbClr val="2A1B4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4032504"/>
            <a:ext cx="9628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protocolNudge() verifica huecos de protocolo (¿se colocó un mapa sin colocar participantes? ¿se inició combate sin colocar a todos los enemigos?) y fuerza una única ronda de corrección.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294376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94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17320" y="5248656"/>
            <a:ext cx="10085832" cy="1051560"/>
          </a:xfrm>
          <a:prstGeom prst="roundRect">
            <a:avLst>
              <a:gd name="adj" fmla="val 6957"/>
            </a:avLst>
          </a:prstGeom>
          <a:solidFill>
            <a:srgbClr val="2A1B4A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5248656"/>
            <a:ext cx="9628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8 iteraciones de tool-calling, para que un modelo que no deje de pedir tools no cuelgue el turno indefinidamente.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Y ACCESO REAL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52878" cy="32918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4" name="Shape 2"/>
          <p:cNvSpPr/>
          <p:nvPr/>
        </p:nvSpPr>
        <p:spPr>
          <a:xfrm>
            <a:off x="1500759" y="17830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0" descr="/sessions/charming-vibrant-tesla/mnt/outputs/tfm-slides/icons/gold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226" y="18635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9748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+ servidor MCP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(Web Service)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21785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api-dnd5e-dm-ia.onrender.com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58718" y="1463040"/>
            <a:ext cx="2452878" cy="32918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10" name="Shape 7"/>
          <p:cNvSpPr/>
          <p:nvPr/>
        </p:nvSpPr>
        <p:spPr>
          <a:xfrm>
            <a:off x="4319397" y="17830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1" name="Image 1" descr="/sessions/charming-vibrant-tesla/mnt/outputs/tfm-slides/icons/gold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864" y="186354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5878" y="269748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dm-engine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95878" y="324612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(servicio interno)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95878" y="3703320"/>
            <a:ext cx="21785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accesible desde la API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77356" y="1463040"/>
            <a:ext cx="2452878" cy="32918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8035" y="17830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7" name="Image 2" descr="/sessions/charming-vibrant-tesla/mnt/outputs/tfm-slides/icons/gold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502" y="1863547"/>
            <a:ext cx="570586" cy="5705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4516" y="269748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Web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14516" y="324612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14516" y="3703320"/>
            <a:ext cx="21785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ui-web-three.vercel.app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95994" y="1463040"/>
            <a:ext cx="2452878" cy="32918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22" name="Shape 17"/>
          <p:cNvSpPr/>
          <p:nvPr/>
        </p:nvSpPr>
        <p:spPr>
          <a:xfrm>
            <a:off x="9956673" y="17830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3" name="Image 3" descr="/sessions/charming-vibrant-tesla/mnt/outputs/tfm-slides/icons/gold/down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140" y="1863547"/>
            <a:ext cx="570586" cy="57058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33154" y="269748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 (Android)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33154" y="324612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→ APK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33154" y="3703320"/>
            <a:ext cx="21785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descarga directa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completas y credenciales de prueba en DOCUMENTACION-TFM.md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REPOSITORIOS Y ENTREGA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0" descr="/sessions/charming-vibrant-tesla/mnt/outputs/tfm-slides/icons/gold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574140"/>
            <a:ext cx="463601" cy="463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17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dnd5e-DM_IA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94960" y="1417320"/>
            <a:ext cx="6062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API_REST TFM — API REST + servidor MCP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487168"/>
            <a:ext cx="594360" cy="5943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0" name="Image 1" descr="/sessions/charming-vibrant-tesla/mnt/outputs/tfm-slides/icons/gold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40" y="2552548"/>
            <a:ext cx="463601" cy="463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957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dm-engine-dnd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94960" y="2395728"/>
            <a:ext cx="6062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dm-engine — motor de orquestación del DM-IA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374136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465576"/>
            <a:ext cx="594360" cy="5943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5" name="Image 2" descr="/sessions/charming-vibrant-tesla/mnt/outputs/tfm-slides/icons/gold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3530956"/>
            <a:ext cx="463601" cy="463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374136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ui-web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394960" y="3374136"/>
            <a:ext cx="6062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de solo lectura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352544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4443984"/>
            <a:ext cx="594360" cy="5943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0" name="Image 3" descr="/sessions/charming-vibrant-tesla/mnt/outputs/tfm-slides/icons/gold/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509364"/>
            <a:ext cx="463601" cy="4636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35254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app-mobile_dnd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394960" y="4352544"/>
            <a:ext cx="6062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— única superficie de juego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5376672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24164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68680" y="5513832"/>
            <a:ext cx="640080" cy="64008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5" name="Image 4" descr="/sessions/charming-vibrant-tesla/mnt/outputs/tfm-slides/icons/gold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9" y="5584241"/>
            <a:ext cx="499262" cy="4992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5376672"/>
            <a:ext cx="98115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 prueba: carlos  ·  Contraseña: @rquimed3s  (rol admin)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vibrant-tesla/mnt/outputs/tfm-slides/pantalla_in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03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591556" y="1463040"/>
            <a:ext cx="1005840" cy="10058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1" descr="/sessions/charming-vibrant-tesla/mnt/outputs/tfm-slides/icons/gold/sc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198" y="1573682"/>
            <a:ext cx="784555" cy="7845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27432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300" kern="0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1097280" y="370332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feedback y ganas de tirar un d20 — todo bienvenido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97280" y="539496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checacs@gmail.com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2026-07-17T11:21:48Z</dcterms:created>
  <dcterms:modified xsi:type="dcterms:W3CDTF">2026-07-17T11:21:48Z</dcterms:modified>
</cp:coreProperties>
</file>